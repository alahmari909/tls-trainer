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45" d="100"/>
          <a:sy n="45" d="100"/>
        </p:scale>
        <p:origin x="-1236" y="-10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516624"/>
            <a:ext cx="7315200" cy="2595025"/>
          </a:xfrm>
        </p:spPr>
        <p:txBody>
          <a:bodyPr>
            <a:normAutofit/>
          </a:bodyPr>
          <a:lstStyle>
            <a:lvl1pPr>
              <a:defRPr sz="4800"/>
            </a:lvl1pPr>
          </a:lstStyle>
          <a:p>
            <a:r>
              <a:rPr lang="en-US"/>
              <a:t>Click to edit Master title style</a:t>
            </a:r>
          </a:p>
        </p:txBody>
      </p:sp>
      <p:sp>
        <p:nvSpPr>
          <p:cNvPr id="3" name="Subtitle 2"/>
          <p:cNvSpPr>
            <a:spLocks noGrp="1"/>
          </p:cNvSpPr>
          <p:nvPr>
            <p:ph type="subTitle" idx="1"/>
          </p:nvPr>
        </p:nvSpPr>
        <p:spPr>
          <a:xfrm>
            <a:off x="914400" y="5166530"/>
            <a:ext cx="7315200" cy="1144632"/>
          </a:xfrm>
        </p:spPr>
        <p:txBody>
          <a:bodyPr>
            <a:normAutofit/>
          </a:bodyPr>
          <a:lstStyle>
            <a:lvl1pPr marL="0" indent="0" algn="l">
              <a:buNone/>
              <a:defRPr sz="22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8F17CD13-DC22-4721-BFE6-3711CBBE2248}" type="datetimeFigureOut">
              <a:rPr lang="en-US" smtClean="0"/>
              <a:t>10/3/25</a:t>
            </a:fld>
            <a:endParaRPr lang="en-US"/>
          </a:p>
        </p:txBody>
      </p:sp>
      <p:sp>
        <p:nvSpPr>
          <p:cNvPr id="8" name="Slide Number Placeholder 7"/>
          <p:cNvSpPr>
            <a:spLocks noGrp="1"/>
          </p:cNvSpPr>
          <p:nvPr>
            <p:ph type="sldNum" sz="quarter" idx="11"/>
          </p:nvPr>
        </p:nvSpPr>
        <p:spPr/>
        <p:txBody>
          <a:bodyPr/>
          <a:lstStyle/>
          <a:p>
            <a:fld id="{9150F760-A70D-47E5-9A52-07140D9F33A9}" type="slidenum">
              <a:rPr lang="en-US" smtClean="0"/>
              <a:t>‹#›</a:t>
            </a:fld>
            <a:endParaRPr lang="en-US"/>
          </a:p>
        </p:txBody>
      </p:sp>
      <p:sp>
        <p:nvSpPr>
          <p:cNvPr id="9" name="Footer Placeholder 8"/>
          <p:cNvSpPr>
            <a:spLocks noGrp="1"/>
          </p:cNvSpPr>
          <p:nvPr>
            <p:ph type="ftr" sz="quarter" idx="12"/>
          </p:nvPr>
        </p:nvSpPr>
        <p:spPr/>
        <p:txBody>
          <a:bodyPr/>
          <a:lstStyle/>
          <a:p>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F17CD13-DC22-4721-BFE6-3711CBBE2248}" type="datetimeFigureOut">
              <a:rPr lang="en-US" smtClean="0"/>
              <a:t>10/3/25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50F760-A70D-47E5-9A52-07140D9F33A9}"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14400" y="5017572"/>
            <a:ext cx="7315200" cy="1293592"/>
          </a:xfrm>
        </p:spPr>
        <p:txBody>
          <a:bodyPr anchor="t"/>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914400" y="3865097"/>
            <a:ext cx="7315200" cy="1098439"/>
          </a:xfrm>
        </p:spPr>
        <p:txBody>
          <a:bodyPr anchor="b"/>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F17CD13-DC22-4721-BFE6-3711CBBE2248}" type="datetimeFigureOut">
              <a:rPr lang="en-US" smtClean="0"/>
              <a:t>10/3/25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50F760-A70D-47E5-9A52-07140D9F33A9}"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8F17CD13-DC22-4721-BFE6-3711CBBE2248}" type="datetimeFigureOut">
              <a:rPr lang="en-US" smtClean="0"/>
              <a:t>10/3/25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150F760-A70D-47E5-9A52-07140D9F33A9}" type="slidenum">
              <a:rPr lang="en-US" smtClean="0"/>
              <a:t>‹#›</a:t>
            </a:fld>
            <a:endParaRPr lang="en-US"/>
          </a:p>
        </p:txBody>
      </p:sp>
      <p:sp>
        <p:nvSpPr>
          <p:cNvPr id="9" name="Title 8"/>
          <p:cNvSpPr>
            <a:spLocks noGrp="1"/>
          </p:cNvSpPr>
          <p:nvPr>
            <p:ph type="title"/>
          </p:nvPr>
        </p:nvSpPr>
        <p:spPr>
          <a:xfrm>
            <a:off x="914400" y="1544715"/>
            <a:ext cx="7315200" cy="1154097"/>
          </a:xfrm>
        </p:spPr>
        <p:txBody>
          <a:bodyPr/>
          <a:lstStyle/>
          <a:p>
            <a:r>
              <a:rPr lang="en-US"/>
              <a:t>Click to edit Master title style</a:t>
            </a:r>
          </a:p>
        </p:txBody>
      </p:sp>
      <p:sp>
        <p:nvSpPr>
          <p:cNvPr id="8" name="Content Placeholder 7"/>
          <p:cNvSpPr>
            <a:spLocks noGrp="1"/>
          </p:cNvSpPr>
          <p:nvPr>
            <p:ph sz="quarter" idx="13"/>
          </p:nvPr>
        </p:nvSpPr>
        <p:spPr>
          <a:xfrm>
            <a:off x="914400" y="2743200"/>
            <a:ext cx="3566160" cy="35935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14"/>
          </p:nvPr>
        </p:nvSpPr>
        <p:spPr>
          <a:xfrm>
            <a:off x="4681728" y="2743200"/>
            <a:ext cx="3566160" cy="35956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16348" y="2743200"/>
            <a:ext cx="3364992" cy="621792"/>
          </a:xfrm>
        </p:spPr>
        <p:txBody>
          <a:bodyPr anchor="b">
            <a:noAutofit/>
          </a:bodyPr>
          <a:lstStyle>
            <a:lvl1pPr marL="0" indent="0">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p:cNvSpPr>
            <a:spLocks noGrp="1"/>
          </p:cNvSpPr>
          <p:nvPr>
            <p:ph type="body" sz="quarter" idx="3"/>
          </p:nvPr>
        </p:nvSpPr>
        <p:spPr>
          <a:xfrm>
            <a:off x="4885144" y="2743200"/>
            <a:ext cx="3362062" cy="621792"/>
          </a:xfrm>
        </p:spPr>
        <p:txBody>
          <a:bodyPr anchor="b">
            <a:noAutofit/>
          </a:bodyPr>
          <a:lstStyle>
            <a:lvl1pPr marL="0" indent="0">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8F17CD13-DC22-4721-BFE6-3711CBBE2248}" type="datetimeFigureOut">
              <a:rPr lang="en-US" smtClean="0"/>
              <a:t>10/3/25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150F760-A70D-47E5-9A52-07140D9F33A9}" type="slidenum">
              <a:rPr lang="en-US" smtClean="0"/>
              <a:t>‹#›</a:t>
            </a:fld>
            <a:endParaRPr lang="en-US"/>
          </a:p>
        </p:txBody>
      </p:sp>
      <p:sp>
        <p:nvSpPr>
          <p:cNvPr id="10" name="Title 9"/>
          <p:cNvSpPr>
            <a:spLocks noGrp="1"/>
          </p:cNvSpPr>
          <p:nvPr>
            <p:ph type="title"/>
          </p:nvPr>
        </p:nvSpPr>
        <p:spPr>
          <a:xfrm>
            <a:off x="914400" y="1544715"/>
            <a:ext cx="7315200" cy="1154097"/>
          </a:xfrm>
        </p:spPr>
        <p:txBody>
          <a:bodyPr/>
          <a:lstStyle/>
          <a:p>
            <a:r>
              <a:rPr lang="en-US"/>
              <a:t>Click to edit Master title style</a:t>
            </a:r>
            <a:endParaRPr lang="en-US" dirty="0"/>
          </a:p>
        </p:txBody>
      </p:sp>
      <p:sp>
        <p:nvSpPr>
          <p:cNvPr id="11" name="Content Placeholder 10"/>
          <p:cNvSpPr>
            <a:spLocks noGrp="1"/>
          </p:cNvSpPr>
          <p:nvPr>
            <p:ph sz="quarter" idx="13"/>
          </p:nvPr>
        </p:nvSpPr>
        <p:spPr>
          <a:xfrm>
            <a:off x="914400" y="3383280"/>
            <a:ext cx="3566160" cy="29535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2"/>
          <p:cNvSpPr>
            <a:spLocks noGrp="1"/>
          </p:cNvSpPr>
          <p:nvPr>
            <p:ph sz="quarter" idx="14"/>
          </p:nvPr>
        </p:nvSpPr>
        <p:spPr>
          <a:xfrm>
            <a:off x="4681727" y="3383280"/>
            <a:ext cx="3566160" cy="29535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F17CD13-DC22-4721-BFE6-3711CBBE2248}" type="datetimeFigureOut">
              <a:rPr lang="en-US" smtClean="0"/>
              <a:t>10/3/25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150F760-A70D-47E5-9A52-07140D9F33A9}"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F17CD13-DC22-4721-BFE6-3711CBBE2248}" type="datetimeFigureOut">
              <a:rPr lang="en-US" smtClean="0"/>
              <a:t>10/3/25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150F760-A70D-47E5-9A52-07140D9F33A9}"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1825362"/>
            <a:ext cx="2950936" cy="2173015"/>
          </a:xfrm>
        </p:spPr>
        <p:txBody>
          <a:bodyPr anchor="b">
            <a:normAutofit/>
          </a:bodyPr>
          <a:lstStyle>
            <a:lvl1pPr algn="l">
              <a:defRPr sz="2800" b="0"/>
            </a:lvl1pPr>
          </a:lstStyle>
          <a:p>
            <a:r>
              <a:rPr lang="en-US"/>
              <a:t>Click to edit Master title style</a:t>
            </a:r>
            <a:endParaRPr lang="en-US" dirty="0"/>
          </a:p>
        </p:txBody>
      </p:sp>
      <p:sp>
        <p:nvSpPr>
          <p:cNvPr id="3" name="Content Placeholder 2"/>
          <p:cNvSpPr>
            <a:spLocks noGrp="1"/>
          </p:cNvSpPr>
          <p:nvPr>
            <p:ph idx="1"/>
          </p:nvPr>
        </p:nvSpPr>
        <p:spPr>
          <a:xfrm>
            <a:off x="4021752" y="1826709"/>
            <a:ext cx="4207848" cy="4476614"/>
          </a:xfrm>
        </p:spPr>
        <p:txBody>
          <a:bodyPr anchor="ct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4400" y="4061095"/>
            <a:ext cx="2950936" cy="224538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F17CD13-DC22-4721-BFE6-3711CBBE2248}" type="datetimeFigureOut">
              <a:rPr lang="en-US" smtClean="0"/>
              <a:t>10/3/25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150F760-A70D-47E5-9A52-07140D9F33A9}"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1828800"/>
            <a:ext cx="2953512" cy="2176272"/>
          </a:xfrm>
        </p:spPr>
        <p:txBody>
          <a:bodyPr anchor="b">
            <a:normAutofit/>
          </a:bodyPr>
          <a:lstStyle>
            <a:lvl1pPr algn="l">
              <a:defRPr sz="2800" b="0"/>
            </a:lvl1pPr>
          </a:lstStyle>
          <a:p>
            <a:r>
              <a:rPr lang="en-US"/>
              <a:t>Click to edit Master title style</a:t>
            </a:r>
            <a:endParaRPr lang="en-US" dirty="0"/>
          </a:p>
        </p:txBody>
      </p:sp>
      <p:sp>
        <p:nvSpPr>
          <p:cNvPr id="3" name="Picture Placeholder 2"/>
          <p:cNvSpPr>
            <a:spLocks noGrp="1"/>
          </p:cNvSpPr>
          <p:nvPr>
            <p:ph type="pic" idx="1"/>
          </p:nvPr>
        </p:nvSpPr>
        <p:spPr>
          <a:xfrm>
            <a:off x="4191000" y="2286000"/>
            <a:ext cx="4038600" cy="3352800"/>
          </a:xfrm>
          <a:solidFill>
            <a:schemeClr val="accent2"/>
          </a:solidFill>
          <a:ln w="12700">
            <a:noFill/>
          </a:ln>
          <a:effectLst>
            <a:reflection blurRad="12700" stA="30000" endPos="30000" dist="31750" dir="5400000" sy="-100000" algn="bl" rotWithShape="0"/>
          </a:effectLst>
          <a:scene3d>
            <a:camera prst="perspectiveRight" fov="2700000">
              <a:rot lat="240000" lon="900000" rev="0"/>
            </a:camera>
            <a:lightRig rig="threePt" dir="t">
              <a:rot lat="0" lon="0" rev="2700000"/>
            </a:lightRig>
          </a:scene3d>
          <a:sp3d/>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4059936"/>
            <a:ext cx="2953512" cy="2249424"/>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F17CD13-DC22-4721-BFE6-3711CBBE2248}" type="datetimeFigureOut">
              <a:rPr lang="en-US" smtClean="0"/>
              <a:t>10/3/25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150F760-A70D-47E5-9A52-07140D9F33A9}"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F17CD13-DC22-4721-BFE6-3711CBBE2248}" type="datetimeFigureOut">
              <a:rPr lang="en-US" smtClean="0"/>
              <a:t>10/3/25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50F760-A70D-47E5-9A52-07140D9F33A9}"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48400" y="1826709"/>
            <a:ext cx="1492499" cy="448445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54524" y="1826709"/>
            <a:ext cx="5241476" cy="448445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F17CD13-DC22-4721-BFE6-3711CBBE2248}" type="datetimeFigureOut">
              <a:rPr lang="en-US" smtClean="0"/>
              <a:t>10/3/25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50F760-A70D-47E5-9A52-07140D9F33A9}"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10" name="Rectangle 9"/>
          <p:cNvSpPr/>
          <p:nvPr/>
        </p:nvSpPr>
        <p:spPr>
          <a:xfrm>
            <a:off x="8435268" y="573807"/>
            <a:ext cx="86236" cy="5723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8569419" y="573807"/>
            <a:ext cx="576072" cy="5723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914400" y="1544715"/>
            <a:ext cx="7315200" cy="115409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914400" y="2769833"/>
            <a:ext cx="7315200" cy="353952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007690" y="548797"/>
            <a:ext cx="1189132" cy="297918"/>
          </a:xfrm>
          <a:prstGeom prst="rect">
            <a:avLst/>
          </a:prstGeom>
        </p:spPr>
        <p:txBody>
          <a:bodyPr vert="horz" lIns="91440" tIns="45720" rIns="91440" bIns="45720" rtlCol="0" anchor="ctr"/>
          <a:lstStyle>
            <a:lvl1pPr algn="l">
              <a:defRPr sz="1200">
                <a:solidFill>
                  <a:schemeClr val="tx1">
                    <a:alpha val="50000"/>
                  </a:schemeClr>
                </a:solidFill>
              </a:defRPr>
            </a:lvl1pPr>
          </a:lstStyle>
          <a:p>
            <a:fld id="{8F17CD13-DC22-4721-BFE6-3711CBBE2248}" type="datetimeFigureOut">
              <a:rPr lang="en-US" smtClean="0"/>
              <a:t>10/3/25</a:t>
            </a:fld>
            <a:endParaRPr lang="en-US"/>
          </a:p>
        </p:txBody>
      </p:sp>
      <p:sp>
        <p:nvSpPr>
          <p:cNvPr id="6" name="Slide Number Placeholder 5"/>
          <p:cNvSpPr>
            <a:spLocks noGrp="1"/>
          </p:cNvSpPr>
          <p:nvPr>
            <p:ph type="sldNum" sz="quarter" idx="4"/>
          </p:nvPr>
        </p:nvSpPr>
        <p:spPr>
          <a:xfrm>
            <a:off x="7314415" y="548797"/>
            <a:ext cx="941203" cy="301752"/>
          </a:xfrm>
          <a:prstGeom prst="rect">
            <a:avLst/>
          </a:prstGeom>
        </p:spPr>
        <p:txBody>
          <a:bodyPr vert="horz" lIns="91440" tIns="45720" rIns="91440" bIns="45720" rtlCol="0" anchor="ctr"/>
          <a:lstStyle>
            <a:lvl1pPr algn="r">
              <a:defRPr sz="1200">
                <a:solidFill>
                  <a:schemeClr val="tx1"/>
                </a:solidFill>
              </a:defRPr>
            </a:lvl1pPr>
          </a:lstStyle>
          <a:p>
            <a:fld id="{9150F760-A70D-47E5-9A52-07140D9F33A9}" type="slidenum">
              <a:rPr lang="en-US" smtClean="0"/>
              <a:t>‹#›</a:t>
            </a:fld>
            <a:endParaRPr lang="en-US"/>
          </a:p>
        </p:txBody>
      </p:sp>
      <p:sp>
        <p:nvSpPr>
          <p:cNvPr id="5" name="Footer Placeholder 4"/>
          <p:cNvSpPr>
            <a:spLocks noGrp="1"/>
          </p:cNvSpPr>
          <p:nvPr>
            <p:ph type="ftr" sz="quarter" idx="3"/>
          </p:nvPr>
        </p:nvSpPr>
        <p:spPr>
          <a:xfrm>
            <a:off x="6008688" y="855956"/>
            <a:ext cx="2246489" cy="301227"/>
          </a:xfrm>
          <a:prstGeom prst="rect">
            <a:avLst/>
          </a:prstGeom>
        </p:spPr>
        <p:txBody>
          <a:bodyPr vert="horz" lIns="91440" tIns="0" rIns="91440" bIns="45720" rtlCol="0" anchor="t"/>
          <a:lstStyle>
            <a:lvl1pPr algn="l">
              <a:defRPr sz="1000">
                <a:solidFill>
                  <a:schemeClr val="tx1"/>
                </a:solidFill>
              </a:defRPr>
            </a:lvl1pPr>
          </a:lstStyle>
          <a:p>
            <a:endParaRPr lang="en-US"/>
          </a:p>
        </p:txBody>
      </p:sp>
    </p:spTree>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40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182880" algn="l" defTabSz="914400" rtl="0" eaLnBrk="1" latinLnBrk="0" hangingPunct="1">
        <a:spcBef>
          <a:spcPct val="20000"/>
        </a:spcBef>
        <a:buClr>
          <a:schemeClr val="tx2"/>
        </a:buClr>
        <a:buFont typeface="Wingdings" charset="2"/>
        <a:buChar char="§"/>
        <a:defRPr sz="2000" kern="1200">
          <a:solidFill>
            <a:schemeClr val="tx1"/>
          </a:solidFill>
          <a:latin typeface="+mn-lt"/>
          <a:ea typeface="+mn-ea"/>
          <a:cs typeface="+mn-cs"/>
        </a:defRPr>
      </a:lvl1pPr>
      <a:lvl2pPr marL="502920" indent="-182880" algn="l" defTabSz="914400" rtl="0" eaLnBrk="1" latinLnBrk="0" hangingPunct="1">
        <a:spcBef>
          <a:spcPct val="20000"/>
        </a:spcBef>
        <a:buClr>
          <a:schemeClr val="tx2"/>
        </a:buClr>
        <a:buFont typeface="Wingdings" charset="2"/>
        <a:buChar char="§"/>
        <a:defRPr sz="1800" kern="1200">
          <a:solidFill>
            <a:schemeClr val="tx1"/>
          </a:solidFill>
          <a:latin typeface="+mn-lt"/>
          <a:ea typeface="+mn-ea"/>
          <a:cs typeface="+mn-cs"/>
        </a:defRPr>
      </a:lvl2pPr>
      <a:lvl3pPr marL="685800" indent="-182880" algn="l" defTabSz="914400" rtl="0" eaLnBrk="1" latinLnBrk="0" hangingPunct="1">
        <a:spcBef>
          <a:spcPct val="20000"/>
        </a:spcBef>
        <a:buClr>
          <a:schemeClr val="tx2"/>
        </a:buClr>
        <a:buFont typeface="Wingdings" charset="2"/>
        <a:buChar char="§"/>
        <a:defRPr sz="1600" kern="1200">
          <a:solidFill>
            <a:schemeClr val="tx1"/>
          </a:solidFill>
          <a:latin typeface="+mn-lt"/>
          <a:ea typeface="+mn-ea"/>
          <a:cs typeface="+mn-cs"/>
        </a:defRPr>
      </a:lvl3pPr>
      <a:lvl4pPr marL="9144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4pPr>
      <a:lvl5pPr marL="11430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5pPr>
      <a:lvl6pPr marL="13716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6pPr>
      <a:lvl7pPr marL="16002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7pPr>
      <a:lvl8pPr marL="18288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8pPr>
      <a:lvl9pPr marL="20574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Transponder Landing System (TLS)</a:t>
            </a:r>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30582650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533400"/>
            <a:ext cx="7315200" cy="1154097"/>
          </a:xfrm>
        </p:spPr>
        <p:txBody>
          <a:bodyPr/>
          <a:lstStyle/>
          <a:p>
            <a:r>
              <a:rPr lang="en-US" b="1" dirty="0"/>
              <a:t>What is TLS?</a:t>
            </a:r>
          </a:p>
        </p:txBody>
      </p:sp>
      <p:sp>
        <p:nvSpPr>
          <p:cNvPr id="3" name="Content Placeholder 2"/>
          <p:cNvSpPr>
            <a:spLocks noGrp="1"/>
          </p:cNvSpPr>
          <p:nvPr>
            <p:ph idx="1"/>
          </p:nvPr>
        </p:nvSpPr>
        <p:spPr>
          <a:xfrm>
            <a:off x="914400" y="1676400"/>
            <a:ext cx="7315200" cy="4953000"/>
          </a:xfrm>
        </p:spPr>
        <p:txBody>
          <a:bodyPr>
            <a:normAutofit/>
          </a:bodyPr>
          <a:lstStyle/>
          <a:p>
            <a:r>
              <a:rPr lang="en-US" dirty="0"/>
              <a:t>A </a:t>
            </a:r>
            <a:r>
              <a:rPr lang="en-US" b="1" dirty="0"/>
              <a:t>transponder landing system (TLS)</a:t>
            </a:r>
            <a:r>
              <a:rPr lang="en-US" dirty="0"/>
              <a:t> is an all-weather, precision landing system that uses existing airborne transponder and instrument landing system (ILS) equipment to create </a:t>
            </a:r>
            <a:r>
              <a:rPr lang="en-US" dirty="0" err="1"/>
              <a:t>aprecision</a:t>
            </a:r>
            <a:r>
              <a:rPr lang="en-US" dirty="0"/>
              <a:t> approach at a location where an ILS would normally not be available.</a:t>
            </a:r>
          </a:p>
          <a:p>
            <a:r>
              <a:rPr lang="en-US" dirty="0"/>
              <a:t>Conventional ILS systems broadcast using a number of "single purpose" antennas. One, located just off the end of the runway, provides a fan-shaped signal for azimuth direction (side to side) and another located beside the runway provides elevation to indicate a standard glideslope. ILS installations also include one or more "marker beacons" located off the end of the runway to provide distance indications as the aircraft approaches the runway. This complex set of antennas is expensive to install and maintain, and are often difficult to site in built-up areas.</a:t>
            </a:r>
          </a:p>
          <a:p>
            <a:endParaRPr lang="en-US" dirty="0"/>
          </a:p>
        </p:txBody>
      </p:sp>
    </p:spTree>
    <p:extLst>
      <p:ext uri="{BB962C8B-B14F-4D97-AF65-F5344CB8AC3E}">
        <p14:creationId xmlns:p14="http://schemas.microsoft.com/office/powerpoint/2010/main" val="2161783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533400"/>
            <a:ext cx="7315200" cy="1154097"/>
          </a:xfrm>
        </p:spPr>
        <p:txBody>
          <a:bodyPr/>
          <a:lstStyle/>
          <a:p>
            <a:r>
              <a:rPr lang="en-US" b="1" dirty="0"/>
              <a:t>Background</a:t>
            </a:r>
          </a:p>
        </p:txBody>
      </p:sp>
      <p:sp>
        <p:nvSpPr>
          <p:cNvPr id="3" name="Content Placeholder 2"/>
          <p:cNvSpPr>
            <a:spLocks noGrp="1"/>
          </p:cNvSpPr>
          <p:nvPr>
            <p:ph idx="1"/>
          </p:nvPr>
        </p:nvSpPr>
        <p:spPr>
          <a:xfrm>
            <a:off x="914400" y="1676400"/>
            <a:ext cx="7315200" cy="4953000"/>
          </a:xfrm>
        </p:spPr>
        <p:txBody>
          <a:bodyPr>
            <a:normAutofit fontScale="92500" lnSpcReduction="10000"/>
          </a:bodyPr>
          <a:lstStyle/>
          <a:p>
            <a:r>
              <a:rPr lang="en-US" dirty="0"/>
              <a:t>John </a:t>
            </a:r>
            <a:r>
              <a:rPr lang="en-US" dirty="0" err="1"/>
              <a:t>Stoltz</a:t>
            </a:r>
            <a:r>
              <a:rPr lang="en-US" dirty="0"/>
              <a:t>, president, CEO and chairman of the board for Advanced Navigation and Positioning Corp. is the brains behind the system. A military aerospace engineer, </a:t>
            </a:r>
            <a:r>
              <a:rPr lang="en-US" dirty="0" err="1"/>
              <a:t>Stoltz</a:t>
            </a:r>
            <a:r>
              <a:rPr lang="en-US" dirty="0"/>
              <a:t> stayed in the West when the F22 program moved east, preferring the peaceful Northwest to the packed Northeast.</a:t>
            </a:r>
          </a:p>
          <a:p>
            <a:r>
              <a:rPr lang="en-US" dirty="0"/>
              <a:t>The Transponder Landing System is developed by Advanced Navigation and Positioning Corp. of Hood River, Ore. The concept is simple, the ground installation easy, and the potential applications are endless.</a:t>
            </a:r>
          </a:p>
          <a:p>
            <a:r>
              <a:rPr lang="en-US" dirty="0"/>
              <a:t> When he contemplated leaving the world of military aviation, he had to see a future for the civil aviation industry. In his vision he saw 17,000 under-served airports, and 130,000 (by FAA account) aircraft equipped with conventional localizer and glideslope systems. His vision was cloudy when it came to Microwave Landing Systems, LAAS and WAAS DGPS systems. He could see the many popular resort destinations, like Sun Valley, Idaho, losing customers because of difficult access by air (with impossible access by land).</a:t>
            </a:r>
          </a:p>
        </p:txBody>
      </p:sp>
    </p:spTree>
    <p:extLst>
      <p:ext uri="{BB962C8B-B14F-4D97-AF65-F5344CB8AC3E}">
        <p14:creationId xmlns:p14="http://schemas.microsoft.com/office/powerpoint/2010/main" val="813908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533400"/>
            <a:ext cx="7315200" cy="1154097"/>
          </a:xfrm>
        </p:spPr>
        <p:txBody>
          <a:bodyPr/>
          <a:lstStyle/>
          <a:p>
            <a:r>
              <a:rPr lang="en-US" b="1" dirty="0"/>
              <a:t>System Details</a:t>
            </a:r>
          </a:p>
        </p:txBody>
      </p:sp>
      <p:sp>
        <p:nvSpPr>
          <p:cNvPr id="3" name="Content Placeholder 2"/>
          <p:cNvSpPr>
            <a:spLocks noGrp="1"/>
          </p:cNvSpPr>
          <p:nvPr>
            <p:ph idx="1"/>
          </p:nvPr>
        </p:nvSpPr>
        <p:spPr>
          <a:xfrm>
            <a:off x="914400" y="1676400"/>
            <a:ext cx="7315200" cy="4953000"/>
          </a:xfrm>
        </p:spPr>
        <p:txBody>
          <a:bodyPr>
            <a:normAutofit/>
          </a:bodyPr>
          <a:lstStyle/>
          <a:p>
            <a:r>
              <a:rPr lang="en-US" dirty="0"/>
              <a:t>There are few components in the TLS system. The most visible are four units mounted in a 50 meter radius alongside the runway. There is a base station unit. a Calibration/Built-in-Test (BIT) unit that monitors station accuracy and integrity, and two angles of arrival antennas. The localizer and glideslope angle of arrival (AOA) sensors are used to define the </a:t>
            </a:r>
            <a:r>
              <a:rPr lang="en-US" dirty="0" err="1"/>
              <a:t>flightpath</a:t>
            </a:r>
            <a:r>
              <a:rPr lang="en-US" dirty="0"/>
              <a:t> from the transponder system as it nears the runway.</a:t>
            </a:r>
          </a:p>
          <a:p>
            <a:r>
              <a:rPr lang="en-US" dirty="0"/>
              <a:t>A central processor in the base station computes the aircraft position in three dimensions, calculates where it should be in relation to the approach, and transmits corrections to the aircraft over the localizer and glideslope transmitter.</a:t>
            </a:r>
          </a:p>
        </p:txBody>
      </p:sp>
    </p:spTree>
    <p:extLst>
      <p:ext uri="{BB962C8B-B14F-4D97-AF65-F5344CB8AC3E}">
        <p14:creationId xmlns:p14="http://schemas.microsoft.com/office/powerpoint/2010/main" val="25665012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533400"/>
            <a:ext cx="7315200" cy="1154097"/>
          </a:xfrm>
        </p:spPr>
        <p:txBody>
          <a:bodyPr/>
          <a:lstStyle/>
          <a:p>
            <a:r>
              <a:rPr lang="en-US" b="1" dirty="0"/>
              <a:t>System Details</a:t>
            </a:r>
          </a:p>
        </p:txBody>
      </p:sp>
      <p:sp>
        <p:nvSpPr>
          <p:cNvPr id="3" name="Content Placeholder 2"/>
          <p:cNvSpPr>
            <a:spLocks noGrp="1"/>
          </p:cNvSpPr>
          <p:nvPr>
            <p:ph idx="1"/>
          </p:nvPr>
        </p:nvSpPr>
        <p:spPr>
          <a:xfrm>
            <a:off x="914400" y="1676400"/>
            <a:ext cx="7315200" cy="4953000"/>
          </a:xfrm>
        </p:spPr>
        <p:txBody>
          <a:bodyPr>
            <a:normAutofit/>
          </a:bodyPr>
          <a:lstStyle/>
          <a:p>
            <a:r>
              <a:rPr lang="en-US" dirty="0"/>
              <a:t>The system is capable of tracking 25 aircraft (or even equipped ground vehicles as a way to prevent runway incursion accidents). One of the limitations of a single TLS system is that only one aircraft could be "on the beam" at a time, because the TLS generates a correction based on its position. However, the system isn't intended to replace the ILS at Denver International or DFW, with the constant parallel approaches. The TLS is a low traffic volume system.</a:t>
            </a:r>
          </a:p>
        </p:txBody>
      </p:sp>
    </p:spTree>
    <p:extLst>
      <p:ext uri="{BB962C8B-B14F-4D97-AF65-F5344CB8AC3E}">
        <p14:creationId xmlns:p14="http://schemas.microsoft.com/office/powerpoint/2010/main" val="26193159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533400"/>
            <a:ext cx="7315200" cy="1154097"/>
          </a:xfrm>
        </p:spPr>
        <p:txBody>
          <a:bodyPr>
            <a:normAutofit fontScale="90000"/>
          </a:bodyPr>
          <a:lstStyle/>
          <a:p>
            <a:r>
              <a:rPr lang="en-US" b="1" dirty="0"/>
              <a:t>Transponder Landing System</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9600" y="1752600"/>
            <a:ext cx="7913896" cy="4605336"/>
          </a:xfrm>
        </p:spPr>
      </p:pic>
    </p:spTree>
    <p:extLst>
      <p:ext uri="{BB962C8B-B14F-4D97-AF65-F5344CB8AC3E}">
        <p14:creationId xmlns:p14="http://schemas.microsoft.com/office/powerpoint/2010/main" val="385667289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erspective">
  <a:themeElements>
    <a:clrScheme name="Perspective">
      <a:dk1>
        <a:sysClr val="windowText" lastClr="000000"/>
      </a:dk1>
      <a:lt1>
        <a:sysClr val="window" lastClr="FFFFFF"/>
      </a:lt1>
      <a:dk2>
        <a:srgbClr val="283138"/>
      </a:dk2>
      <a:lt2>
        <a:srgbClr val="FF8600"/>
      </a:lt2>
      <a:accent1>
        <a:srgbClr val="838D9B"/>
      </a:accent1>
      <a:accent2>
        <a:srgbClr val="D2610C"/>
      </a:accent2>
      <a:accent3>
        <a:srgbClr val="80716A"/>
      </a:accent3>
      <a:accent4>
        <a:srgbClr val="94147C"/>
      </a:accent4>
      <a:accent5>
        <a:srgbClr val="5D5AD2"/>
      </a:accent5>
      <a:accent6>
        <a:srgbClr val="6F6C7D"/>
      </a:accent6>
      <a:hlink>
        <a:srgbClr val="6187E3"/>
      </a:hlink>
      <a:folHlink>
        <a:srgbClr val="7B8EB8"/>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erspective">
      <a:fillStyleLst>
        <a:solidFill>
          <a:schemeClr val="phClr"/>
        </a:solidFill>
        <a:gradFill rotWithShape="1">
          <a:gsLst>
            <a:gs pos="0">
              <a:schemeClr val="phClr">
                <a:tint val="50000"/>
                <a:alpha val="100000"/>
                <a:satMod val="160000"/>
                <a:lumMod val="105000"/>
              </a:schemeClr>
            </a:gs>
            <a:gs pos="41000">
              <a:schemeClr val="phClr">
                <a:tint val="57000"/>
                <a:satMod val="180000"/>
                <a:lumMod val="99000"/>
              </a:schemeClr>
            </a:gs>
            <a:gs pos="100000">
              <a:schemeClr val="phClr">
                <a:tint val="80000"/>
                <a:satMod val="200000"/>
                <a:lumMod val="104000"/>
              </a:schemeClr>
            </a:gs>
          </a:gsLst>
          <a:lin ang="5400000" scaled="1"/>
        </a:gradFill>
        <a:gradFill rotWithShape="1">
          <a:gsLst>
            <a:gs pos="0">
              <a:schemeClr val="phClr">
                <a:tint val="96000"/>
                <a:satMod val="130000"/>
                <a:lumMod val="114000"/>
              </a:schemeClr>
            </a:gs>
            <a:gs pos="60000">
              <a:schemeClr val="phClr">
                <a:tint val="100000"/>
                <a:satMod val="106000"/>
                <a:lumMod val="110000"/>
              </a:schemeClr>
            </a:gs>
            <a:gs pos="100000">
              <a:schemeClr val="ph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50800" dist="38100" dir="5400000" rotWithShape="0">
              <a:srgbClr val="000000">
                <a:alpha val="28000"/>
              </a:srgbClr>
            </a:outerShdw>
          </a:effectLst>
        </a:effectStyle>
        <a:effectStyle>
          <a:effectLst>
            <a:outerShdw blurRad="47625" dist="38100" dir="5400000" sy="98000" rotWithShape="0">
              <a:srgbClr val="000000">
                <a:alpha val="48000"/>
              </a:srgbClr>
            </a:outerShdw>
          </a:effectLst>
          <a:scene3d>
            <a:camera prst="orthographicFront">
              <a:rot lat="0" lon="0" rev="0"/>
            </a:camera>
            <a:lightRig rig="twoPt" dir="br">
              <a:rot lat="0" lon="0" rev="8700000"/>
            </a:lightRig>
          </a:scene3d>
          <a:sp3d prstMaterial="matte">
            <a:bevelT w="25400" h="53975"/>
          </a:sp3d>
        </a:effectStyle>
        <a:effectStyle>
          <a:effectLst>
            <a:reflection blurRad="12700" stA="24000" endPos="28000" dist="50800" dir="5400000" sy="-100000" rotWithShape="0"/>
          </a:effectLst>
          <a:scene3d>
            <a:camera prst="orthographicFront">
              <a:rot lat="0" lon="0" rev="0"/>
            </a:camera>
            <a:lightRig rig="threePt" dir="t">
              <a:rot lat="0" lon="0" rev="4800000"/>
            </a:lightRig>
          </a:scene3d>
          <a:sp3d>
            <a:bevelT w="69850" h="31750"/>
          </a:sp3d>
        </a:effectStyle>
      </a:effectStyleLst>
      <a:bgFillStyleLst>
        <a:solidFill>
          <a:schemeClr val="phClr"/>
        </a:solidFill>
        <a:gradFill rotWithShape="1">
          <a:gsLst>
            <a:gs pos="0">
              <a:schemeClr val="phClr">
                <a:tint val="100000"/>
                <a:shade val="80000"/>
                <a:satMod val="100000"/>
                <a:lumMod val="100000"/>
              </a:schemeClr>
            </a:gs>
            <a:gs pos="65000">
              <a:schemeClr val="phClr">
                <a:tint val="100000"/>
                <a:shade val="95000"/>
                <a:satMod val="100000"/>
                <a:lumMod val="100000"/>
              </a:schemeClr>
            </a:gs>
            <a:gs pos="100000">
              <a:schemeClr val="phClr">
                <a:tint val="88000"/>
                <a:shade val="100000"/>
                <a:satMod val="400000"/>
                <a:lumMod val="100000"/>
              </a:schemeClr>
            </a:gs>
          </a:gsLst>
          <a:lin ang="5400000" scaled="0"/>
        </a:gradFill>
        <a:blipFill rotWithShape="1">
          <a:blip xmlns:r="http://schemas.openxmlformats.org/officeDocument/2006/relationships" r:embed="rId1">
            <a:duotone>
              <a:schemeClr val="phClr">
                <a:tint val="95000"/>
                <a:satMod val="90000"/>
              </a:schemeClr>
              <a:schemeClr val="phClr">
                <a:shade val="92000"/>
              </a:schemeClr>
            </a:duotone>
          </a:blip>
          <a:tile tx="0" ty="0" sx="100000" sy="10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Perspective</Template>
  <TotalTime>123</TotalTime>
  <Words>314</Words>
  <Application>Microsoft Office PowerPoint</Application>
  <PresentationFormat>On-screen Show (4:3)</PresentationFormat>
  <Paragraphs>14</Paragraphs>
  <Slides>6</Slides>
  <Notes>0</Notes>
  <HiddenSlides>0</HiddenSlides>
  <MMClips>0</MMClip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Perspective</vt:lpstr>
      <vt:lpstr>Transponder Landing System (TLS)</vt:lpstr>
      <vt:lpstr>What is TLS?</vt:lpstr>
      <vt:lpstr>Background</vt:lpstr>
      <vt:lpstr>System Details</vt:lpstr>
      <vt:lpstr>System Details</vt:lpstr>
      <vt:lpstr>Transponder Landing System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Transponder Landing System (TLS)</dc:title>
  <dc:creator>Narciso</dc:creator>
  <cp:lastModifiedBy>Office</cp:lastModifiedBy>
  <cp:revision>9</cp:revision>
  <dcterms:created xsi:type="dcterms:W3CDTF">2013-09-22T04:38:58Z</dcterms:created>
  <dcterms:modified xsi:type="dcterms:W3CDTF">2025-10-03T00:19:13Z</dcterms:modified>
</cp:coreProperties>
</file>